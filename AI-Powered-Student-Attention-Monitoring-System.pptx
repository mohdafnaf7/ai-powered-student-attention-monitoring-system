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Poppins ExtraLight"/>
      <p:regular r:id="rId201314"/>
    </p:embeddedFont>
    <p:embeddedFont>
      <p:font typeface="Poppins Thin"/>
      <p:regular r:id="rId201315"/>
    </p:embeddedFont>
    <p:embeddedFont>
      <p:font typeface="Poppins Light"/>
      <p:regular r:id="rId201316"/>
    </p:embeddedFont>
    <p:embeddedFont>
      <p:font typeface="Poppins SemiBold"/>
      <p:regular r:id="rId201317"/>
    </p:embeddedFont>
    <p:embeddedFont>
      <p:font typeface="Poppins Bold"/>
      <p:regular r:id="rId201318"/>
    </p:embeddedFont>
    <p:embeddedFont>
      <p:font typeface="Poppins ExtraBold"/>
      <p:regular r:id="rId201319"/>
    </p:embeddedFont>
    <p:embeddedFont>
      <p:font typeface="Poppins Black"/>
      <p:regular r:id="rId201320"/>
    </p:embeddedFont>
    <p:embeddedFont>
      <p:font typeface="Poppins"/>
      <p:regular r:id="rId201321"/>
    </p:embeddedFont>
    <p:embeddedFont>
      <p:font typeface="Poppins Medium"/>
      <p:regular r:id="rId201322"/>
    </p:embeddedFont>
    <p:embeddedFont>
      <p:font typeface="Roboto Light"/>
      <p:regular r:id="rId201323"/>
    </p:embeddedFont>
    <p:embeddedFont>
      <p:font typeface="Roboto"/>
      <p:regular r:id="rId201324"/>
    </p:embeddedFont>
    <p:embeddedFont>
      <p:font typeface="Roboto Thin"/>
      <p:regular r:id="rId201325"/>
    </p:embeddedFont>
    <p:embeddedFont>
      <p:font typeface="Roboto ExtraLight"/>
      <p:regular r:id="rId201326"/>
    </p:embeddedFont>
    <p:embeddedFont>
      <p:font typeface="Roboto Medium"/>
      <p:regular r:id="rId201327"/>
    </p:embeddedFont>
    <p:embeddedFont>
      <p:font typeface="Roboto SemiBold"/>
      <p:regular r:id="rId201328"/>
    </p:embeddedFont>
    <p:embeddedFont>
      <p:font typeface="Roboto Bold"/>
      <p:regular r:id="rId201329"/>
    </p:embeddedFont>
    <p:embeddedFont>
      <p:font typeface="Roboto ExtraBold"/>
      <p:regular r:id="rId201330"/>
    </p:embeddedFont>
    <p:embeddedFont>
      <p:font typeface="Roboto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2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00001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460748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AI-Powered Student Attention Monitoring System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3002310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Real-time engagement detection using facial-landmark feature engineering and a trained ML classifier — built with Computer Vision &amp; Machine Learning.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00001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94" y="375717"/>
            <a:ext cx="3293938" cy="43919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395883"/>
            <a:ext cx="4722763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Problem: Attention is Invisible</a:t>
            </a:r>
            <a:endParaRPr lang="en-US" sz="2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433661"/>
            <a:ext cx="4722763" cy="101880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55430" y="1587773"/>
            <a:ext cx="43383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Silent Disengagement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155430" y="1876127"/>
            <a:ext cx="433834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student can look at a screen while mentally checked out — teachers have no objective signal to catch it.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581201"/>
            <a:ext cx="4722763" cy="101880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55430" y="2735312"/>
            <a:ext cx="43383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Doesn't Scale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4155430" y="3023667"/>
            <a:ext cx="433834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One instructor cannot continuously track eye contact, blinking, or posture for every student, every second.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728740"/>
            <a:ext cx="4722763" cy="101880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155430" y="3882851"/>
            <a:ext cx="43383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Too Late to Act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4155430" y="4171206"/>
            <a:ext cx="433834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Fatigue and distraction are usually noticed only after grades slip — not in the moment when it matters.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5789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Project Goals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984400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2033067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Capture Behaviour in Real Time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56816" y="2339578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Run MediaPipe Face Landmarker on a live webcam feed, frame by frame.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984400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1250" y="2033067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Engineer Domain-Informed Features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121250" y="2339578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Convert raw landmarks into EAR, MAR, head pose, and gaze-direction signals.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76724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6816" y="3125391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Classify Attention Automatically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956816" y="3431902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Map features to Distracted / Passive / Highly Attentive using a trained ML model.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076724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21250" y="3125391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Make It Observable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121250" y="3431902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Log every session to SQLite and expose it through a live analytics dashboard.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883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End-to-End Pipeline Architecture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679" y="971476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3796581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ML Prediction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73714" y="2989577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2190724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Face Landmarker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1383719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Webcam Feed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571181"/>
            <a:ext cx="86089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Every frame travels through this deterministic pipeline — from raw pixels to a logged attention classification — in near real time.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57598"/>
            <a:ext cx="2628230" cy="26282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988" y="630882"/>
            <a:ext cx="5177582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Computer Vision: Landmarks → Behavioural Signals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5938" y="1657276"/>
            <a:ext cx="1626766" cy="19830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4847" y="1676326"/>
            <a:ext cx="14278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EAR — Eye Aspect Ratio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3654847" y="2260997"/>
            <a:ext cx="142785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Geometric ratio on 6 eye-contour points. Drops sharply on a blink, driving fatigue detection.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40834" y="1657276"/>
            <a:ext cx="1626766" cy="19830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39742" y="1676326"/>
            <a:ext cx="14278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MAR — Mouth Aspect Ratio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5439742" y="2260997"/>
            <a:ext cx="142785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Same idea applied to 8 mouth-contour points. A sustained spike flags a yawn.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25729" y="1657276"/>
            <a:ext cx="1626766" cy="19830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24638" y="1676326"/>
            <a:ext cx="1427857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Head Pose (Pitch / Yaw / Roll)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7224638" y="2482453"/>
            <a:ext cx="1427857" cy="1138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highlight>
                  <a:srgbClr val="0D0D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cv2.solvePnP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on 6 stable landmarks estimates 3D orientation to catch "looking away."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55938" y="3885754"/>
            <a:ext cx="5196557" cy="62812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654847" y="3904804"/>
            <a:ext cx="49976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Gaze Direction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3654847" y="4268019"/>
            <a:ext cx="499764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Iris landmarks normalized between eye corners to classify left / center / right.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8213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Scoring &amp; Classification Logic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79016"/>
            <a:ext cx="86089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Each behavioural signal is normalized to 0–1, weighted, and summed into one transparent attention score (0–100) — no black box.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09440"/>
            <a:ext cx="3905696" cy="281128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46947" y="1709440"/>
            <a:ext cx="1884164" cy="1520279"/>
          </a:xfrm>
          <a:prstGeom prst="roundRect">
            <a:avLst>
              <a:gd name="adj" fmla="val 8261"/>
            </a:avLst>
          </a:prstGeom>
          <a:solidFill>
            <a:srgbClr val="000018"/>
          </a:solidFill>
          <a:ln/>
          <a:effectLst>
            <a:outerShdw sx="100000" sy="100000" kx="0" ky="0" algn="bl" rotWithShape="0" blurRad="208280" dist="50800" dir="16200000">
              <a:srgbClr val="ffffff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886474" y="1848966"/>
            <a:ext cx="160511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🟢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Highly Attentive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886474" y="2204368"/>
            <a:ext cx="160511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Score ≥ 70 — student is engaged, eyes forward, minimal yawning or distraction signals.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768480" y="1709440"/>
            <a:ext cx="1884164" cy="1520279"/>
          </a:xfrm>
          <a:prstGeom prst="roundRect">
            <a:avLst>
              <a:gd name="adj" fmla="val 8261"/>
            </a:avLst>
          </a:prstGeom>
          <a:solidFill>
            <a:srgbClr val="000018"/>
          </a:solidFill>
          <a:ln/>
          <a:effectLst>
            <a:outerShdw sx="100000" sy="100000" kx="0" ky="0" algn="bl" rotWithShape="0" blurRad="208280" dist="50800" dir="16200000">
              <a:srgbClr val="ffffff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908006" y="1848966"/>
            <a:ext cx="160511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🟡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Passive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908006" y="2204368"/>
            <a:ext cx="160511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Score 40–69 — partial engagement detected; attention is present but inconsistent.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46947" y="3367088"/>
            <a:ext cx="3905696" cy="1077367"/>
          </a:xfrm>
          <a:prstGeom prst="roundRect">
            <a:avLst>
              <a:gd name="adj" fmla="val 11658"/>
            </a:avLst>
          </a:prstGeom>
          <a:solidFill>
            <a:srgbClr val="000018"/>
          </a:solidFill>
          <a:ln/>
          <a:effectLst>
            <a:outerShdw sx="100000" sy="100000" kx="0" ky="0" algn="bl" rotWithShape="0" blurRad="208280" dist="50800" dir="16200000">
              <a:srgbClr val="ffffff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86474" y="3506614"/>
            <a:ext cx="3626644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Distracted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886474" y="3862015"/>
            <a:ext cx="362664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Score &lt; 40 — significant disengagement signals; candidate for an immediate alert.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607"/>
            <a:ext cx="8151763" cy="80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Machine Learning: Auto-Selecting the Best Classifier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518493"/>
            <a:ext cx="518889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Training Setup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96119" y="1850157"/>
            <a:ext cx="289024" cy="289024"/>
          </a:xfrm>
          <a:prstGeom prst="roundRect">
            <a:avLst>
              <a:gd name="adj" fmla="val 40007"/>
            </a:avLst>
          </a:prstGeom>
          <a:solidFill>
            <a:srgbClr val="000018"/>
          </a:solidFill>
          <a:ln/>
          <a:effectLst>
            <a:outerShdw sx="100000" sy="100000" kx="0" ky="0" algn="bl" rotWithShape="0" blurRad="191770" dist="50800" dir="16200000">
              <a:srgbClr val="ffffff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4302" y="1874230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01526" y="1894284"/>
            <a:ext cx="1227237" cy="602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Synthetic Bootstrap Dataset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01526" y="2612752"/>
            <a:ext cx="1227237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600 domain-informed samples per class so the system predicts from the very first run.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74243" y="1850157"/>
            <a:ext cx="289024" cy="289024"/>
          </a:xfrm>
          <a:prstGeom prst="roundRect">
            <a:avLst>
              <a:gd name="adj" fmla="val 40007"/>
            </a:avLst>
          </a:prstGeom>
          <a:solidFill>
            <a:srgbClr val="000018"/>
          </a:solidFill>
          <a:ln/>
          <a:effectLst>
            <a:outerShdw sx="100000" sy="100000" kx="0" ky="0" algn="bl" rotWithShape="0" blurRad="191770" dist="50800" dir="16200000">
              <a:srgbClr val="ffffff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22426" y="1874230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679650" y="1894284"/>
            <a:ext cx="1227237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10 Engineered Features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79650" y="2412057"/>
            <a:ext cx="1227237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EAR, MAR, blink rate, yawn count, pitch, yaw, roll, gaze score, face presence, session duration.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52367" y="1850157"/>
            <a:ext cx="289024" cy="289024"/>
          </a:xfrm>
          <a:prstGeom prst="roundRect">
            <a:avLst>
              <a:gd name="adj" fmla="val 40007"/>
            </a:avLst>
          </a:prstGeom>
          <a:solidFill>
            <a:srgbClr val="000018"/>
          </a:solidFill>
          <a:ln/>
          <a:effectLst>
            <a:outerShdw sx="100000" sy="100000" kx="0" ky="0" algn="bl" rotWithShape="0" blurRad="191770" dist="50800" dir="16200000">
              <a:srgbClr val="ffffff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00550" y="1874230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57774" y="1894284"/>
            <a:ext cx="1227237" cy="602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Two Candidates Benchmarked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57774" y="2612752"/>
            <a:ext cx="1227237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Random Forest vs. Logistic Regression evaluated on the same held-out test split.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6119" y="3825255"/>
            <a:ext cx="289024" cy="289024"/>
          </a:xfrm>
          <a:prstGeom prst="roundRect">
            <a:avLst>
              <a:gd name="adj" fmla="val 40007"/>
            </a:avLst>
          </a:prstGeom>
          <a:solidFill>
            <a:srgbClr val="000018"/>
          </a:solidFill>
          <a:ln/>
          <a:effectLst>
            <a:outerShdw sx="100000" sy="100000" kx="0" ky="0" algn="bl" rotWithShape="0" blurRad="191770" dist="50800" dir="16200000">
              <a:srgbClr val="ffffff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4302" y="3849328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01526" y="3869382"/>
            <a:ext cx="478348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Auto-Selection at Runtime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01526" y="4186461"/>
            <a:ext cx="4783485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Whichever model scores the higher weighted F1 is serialized with 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FD0D8"/>
                </a:solidFill>
                <a:highlight>
                  <a:srgbClr val="0D0D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joblib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and loaded live.</a:t>
            </a:r>
            <a:endParaRPr lang="en-US" sz="10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3206" y="1735782"/>
            <a:ext cx="2649364" cy="26493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00001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53667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What's Next: Future Scope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496119" y="1192262"/>
            <a:ext cx="4722763" cy="1043657"/>
          </a:xfrm>
          <a:prstGeom prst="roundRect">
            <a:avLst>
              <a:gd name="adj" fmla="val 12225"/>
            </a:avLst>
          </a:prstGeom>
          <a:solidFill>
            <a:srgbClr val="000018"/>
          </a:solidFill>
          <a:ln/>
          <a:effectLst>
            <a:outerShdw sx="100000" sy="100000" kx="0" ky="0" algn="bl" rotWithShape="0" blurRad="212090" dist="50800" dir="16200000">
              <a:srgbClr val="ffffff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37877" y="1334021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Classroom-Scale Monitoring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1640532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Extend from a single face to multiple simultaneous students tracked within one frame.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6119" y="2377678"/>
            <a:ext cx="4722763" cy="1043657"/>
          </a:xfrm>
          <a:prstGeom prst="roundRect">
            <a:avLst>
              <a:gd name="adj" fmla="val 12225"/>
            </a:avLst>
          </a:prstGeom>
          <a:solidFill>
            <a:srgbClr val="000018"/>
          </a:solidFill>
          <a:ln/>
          <a:effectLst>
            <a:outerShdw sx="100000" sy="100000" kx="0" ky="0" algn="bl" rotWithShape="0" blurRad="212090" dist="50800" dir="16200000">
              <a:srgbClr val="ffffff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7877" y="2519437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Temporal Deep Learning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37877" y="2825948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Explore CNN/LSTM models over feature sequences instead of single-frame classification.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6119" y="3563094"/>
            <a:ext cx="4722763" cy="1043657"/>
          </a:xfrm>
          <a:prstGeom prst="roundRect">
            <a:avLst>
              <a:gd name="adj" fmla="val 12225"/>
            </a:avLst>
          </a:prstGeom>
          <a:solidFill>
            <a:srgbClr val="000018"/>
          </a:solidFill>
          <a:ln/>
          <a:effectLst>
            <a:outerShdw sx="100000" sy="100000" kx="0" ky="0" algn="bl" rotWithShape="0" blurRad="212090" dist="50800" dir="16200000">
              <a:srgbClr val="ffffff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7877" y="3704853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Teacher-Facing Alerts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37877" y="4011364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Push live low-attention alerts and export session summaries directly into an LMS.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2026-07-28T17:16:53Z</dcterms:created>
  <dcterms:modified xsi:type="dcterms:W3CDTF">2026-07-28T17:16:53Z</dcterms:modified>
</cp:coreProperties>
</file>